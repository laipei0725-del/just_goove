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6446520"/>
            <a:ext cx="11338560" cy="0"/>
          </a:xfrm>
          <a:prstGeom prst="line">
            <a:avLst/>
          </a:prstGeom>
          <a:noFill/>
          <a:ln w="12700">
            <a:solidFill>
              <a:srgbClr val="2B2B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6510528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77777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 GROOVE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eipei/Documents/antigravity/justgoove_app_2026/assets/just-groove-project-cover-y2k.png">    </p:cNvPr>
          <p:cNvPicPr>
            <a:picLocks noChangeAspect="1"/>
          </p:cNvPicPr>
          <p:nvPr/>
        </p:nvPicPr>
        <p:blipFill>
          <a:blip r:embed="rId1">
            <a:alphaModFix amt="97000"/>
          </a:blip>
          <a:stretch>
            <a:fillRect/>
          </a:stretch>
        </p:blipFill>
        <p:spPr>
          <a:xfrm>
            <a:off x="6903720" y="502920"/>
            <a:ext cx="4800600" cy="53949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91440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800" b="1" spc="500" kern="0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</a:t>
            </a:r>
            <a:endParaRPr lang="en-US" sz="4800" dirty="0"/>
          </a:p>
        </p:txBody>
      </p:sp>
      <p:sp>
        <p:nvSpPr>
          <p:cNvPr id="4" name="Text 1"/>
          <p:cNvSpPr/>
          <p:nvPr/>
        </p:nvSpPr>
        <p:spPr>
          <a:xfrm>
            <a:off x="594360" y="160020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5800" b="1" spc="300" kern="0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GROOVE</a:t>
            </a:r>
            <a:endParaRPr lang="en-US" sz="5800" dirty="0"/>
          </a:p>
        </p:txBody>
      </p:sp>
      <p:sp>
        <p:nvSpPr>
          <p:cNvPr id="5" name="Text 2"/>
          <p:cNvSpPr/>
          <p:nvPr/>
        </p:nvSpPr>
        <p:spPr>
          <a:xfrm>
            <a:off x="640080" y="26974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選一段，開始練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58368" y="32461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專為舞者設計的智慧練舞與錄影比對平台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58368" y="388620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8FF35"/>
          </a:solidFill>
          <a:ln w="12700">
            <a:solidFill>
              <a:srgbClr val="C8FF3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389534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9090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專題成果簡報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58368" y="489204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報告人｜賴沛儒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指導老師｜黃老師 Roger 導師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1201400" y="64922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 / WHY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8580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為什麼要做 JUST GROOVE？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把「找動作、拆節拍、反覆練」變成一條順手的流程。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874520"/>
            <a:ext cx="5029200" cy="3566160"/>
          </a:xfrm>
          <a:prstGeom prst="roundRect">
            <a:avLst>
              <a:gd name="adj" fmla="val 4103"/>
            </a:avLst>
          </a:prstGeom>
          <a:solidFill>
            <a:srgbClr val="141414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240280"/>
            <a:ext cx="4389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練舞者真正需要的，不是更多影片。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868680" y="292608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而是一個能把影片變成肌肉記憶的工具。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896112" y="3877056"/>
            <a:ext cx="91440" cy="91440"/>
          </a:xfrm>
          <a:prstGeom prst="ellipse">
            <a:avLst/>
          </a:prstGeom>
          <a:solidFill>
            <a:srgbClr val="C8FF35"/>
          </a:solidFill>
          <a:ln w="12700">
            <a:solidFill>
              <a:srgbClr val="C8FF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8992" y="37490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降低自學與拆舞門檻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96112" y="4315968"/>
            <a:ext cx="91440" cy="91440"/>
          </a:xfrm>
          <a:prstGeom prst="ellipse">
            <a:avLst/>
          </a:prstGeom>
          <a:solidFill>
            <a:srgbClr val="C8FF35"/>
          </a:solidFill>
          <a:ln w="12700">
            <a:solidFill>
              <a:srgbClr val="C8FF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78992" y="418795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讓重播、鏡像、慢速變得直覺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96112" y="4754880"/>
            <a:ext cx="91440" cy="91440"/>
          </a:xfrm>
          <a:prstGeom prst="ellipse">
            <a:avLst/>
          </a:prstGeom>
          <a:solidFill>
            <a:srgbClr val="C8FF35"/>
          </a:solidFill>
          <a:ln w="12700">
            <a:solidFill>
              <a:srgbClr val="C8FF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8992" y="462686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留下自己的練習紀錄與成果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0" y="2148840"/>
            <a:ext cx="1417320" cy="658368"/>
          </a:xfrm>
          <a:prstGeom prst="roundRect">
            <a:avLst>
              <a:gd name="adj" fmla="val 16667"/>
            </a:avLst>
          </a:prstGeom>
          <a:solidFill>
            <a:srgbClr val="222222"/>
          </a:solidFill>
          <a:ln w="12700">
            <a:solidFill>
              <a:srgbClr val="C8FF3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22402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影片來源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412480" y="2148840"/>
            <a:ext cx="1417320" cy="658368"/>
          </a:xfrm>
          <a:prstGeom prst="roundRect">
            <a:avLst>
              <a:gd name="adj" fmla="val 16667"/>
            </a:avLst>
          </a:prstGeom>
          <a:solidFill>
            <a:srgbClr val="222222"/>
          </a:solidFill>
          <a:ln w="12700">
            <a:solidFill>
              <a:srgbClr val="8BE9F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0" y="22402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精準拆解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0" y="3886200"/>
            <a:ext cx="1417320" cy="658368"/>
          </a:xfrm>
          <a:prstGeom prst="roundRect">
            <a:avLst>
              <a:gd name="adj" fmla="val 16667"/>
            </a:avLst>
          </a:prstGeom>
          <a:solidFill>
            <a:srgbClr val="222222"/>
          </a:solidFill>
          <a:ln w="12700">
            <a:solidFill>
              <a:srgbClr val="8BE9F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92240" y="397764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反覆練習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412480" y="3886200"/>
            <a:ext cx="1417320" cy="658368"/>
          </a:xfrm>
          <a:prstGeom prst="roundRect">
            <a:avLst>
              <a:gd name="adj" fmla="val 16667"/>
            </a:avLst>
          </a:prstGeom>
          <a:solidFill>
            <a:srgbClr val="222222"/>
          </a:solidFill>
          <a:ln w="12700">
            <a:solidFill>
              <a:srgbClr val="C8FF3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03920" y="397764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錄影驗收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818120" y="2487168"/>
            <a:ext cx="594360" cy="0"/>
          </a:xfrm>
          <a:prstGeom prst="line">
            <a:avLst/>
          </a:prstGeom>
          <a:noFill/>
          <a:ln w="25400">
            <a:solidFill>
              <a:srgbClr val="C8FF35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132320" y="2816352"/>
            <a:ext cx="0" cy="1005840"/>
          </a:xfrm>
          <a:prstGeom prst="line">
            <a:avLst/>
          </a:prstGeom>
          <a:noFill/>
          <a:ln w="25400">
            <a:solidFill>
              <a:srgbClr val="C8FF35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098280" y="2816352"/>
            <a:ext cx="0" cy="1005840"/>
          </a:xfrm>
          <a:prstGeom prst="line">
            <a:avLst/>
          </a:prstGeom>
          <a:noFill/>
          <a:ln w="25400">
            <a:solidFill>
              <a:srgbClr val="C8FF35"/>
            </a:solidFill>
            <a:prstDash val="solid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11201400" y="64922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 / PAIN POINT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8580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漫畫第一幕｜反覆倒帶的崩潰日常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一個「倒退 5 秒」的按鈕，常常讓練習節奏直接斷掉。</a:t>
            </a:r>
            <a:endParaRPr lang="en-US" sz="1300" dirty="0"/>
          </a:p>
        </p:txBody>
      </p:sp>
      <p:pic>
        <p:nvPicPr>
          <p:cNvPr id="5" name="Image 0" descr="/Users/peipei/Documents/antigravity/justgoove_app_2026/assets/just-groove-comic-p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28800"/>
            <a:ext cx="11018520" cy="4069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201400" y="64922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/ PERSONA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8580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目標族群與使用場景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從第一次接觸舞蹈，到需要精準驗收的每一位舞者。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2514600" cy="1325880"/>
          </a:xfrm>
          <a:prstGeom prst="roundRect">
            <a:avLst>
              <a:gd name="adj" fmla="val 11034"/>
            </a:avLst>
          </a:prstGeom>
          <a:solidFill>
            <a:srgbClr val="263116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488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熱舞社學生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6334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社辦團練／快速拆副歌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74720" y="1920240"/>
            <a:ext cx="2514600" cy="1325880"/>
          </a:xfrm>
          <a:prstGeom prst="roundRect">
            <a:avLst>
              <a:gd name="adj" fmla="val 11034"/>
            </a:avLst>
          </a:prstGeom>
          <a:solidFill>
            <a:srgbClr val="171717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0" y="21488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K-Pop Cover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657600" y="263347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居家鏡前／重複八拍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657600"/>
            <a:ext cx="2514600" cy="1325880"/>
          </a:xfrm>
          <a:prstGeom prst="roundRect">
            <a:avLst>
              <a:gd name="adj" fmla="val 11034"/>
            </a:avLst>
          </a:prstGeom>
          <a:solidFill>
            <a:srgbClr val="171717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8862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編舞老師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22960" y="43708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示範教學／標註段落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474720" y="3657600"/>
            <a:ext cx="2514600" cy="1325880"/>
          </a:xfrm>
          <a:prstGeom prst="roundRect">
            <a:avLst>
              <a:gd name="adj" fmla="val 11034"/>
            </a:avLst>
          </a:prstGeom>
          <a:solidFill>
            <a:srgbClr val="171717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0" y="38862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零基礎自學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657600" y="43708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慢速練習／建立信心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583680" y="1920240"/>
            <a:ext cx="4846320" cy="3886200"/>
          </a:xfrm>
          <a:prstGeom prst="roundRect">
            <a:avLst>
              <a:gd name="adj" fmla="val 3765"/>
            </a:avLst>
          </a:prstGeom>
          <a:solidFill>
            <a:srgbClr val="111111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3720" y="22402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一支影片，三種練習場景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949440" y="3099816"/>
            <a:ext cx="91440" cy="91440"/>
          </a:xfrm>
          <a:prstGeom prst="ellipse">
            <a:avLst/>
          </a:prstGeom>
          <a:solidFill>
            <a:srgbClr val="C8FF35"/>
          </a:solidFill>
          <a:ln w="12700">
            <a:solidFill>
              <a:srgbClr val="C8FF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0" y="29718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社辦：手機快速選段、AB 循環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949440" y="3758184"/>
            <a:ext cx="91440" cy="91440"/>
          </a:xfrm>
          <a:prstGeom prst="ellipse">
            <a:avLst/>
          </a:prstGeom>
          <a:solidFill>
            <a:srgbClr val="C8FF35"/>
          </a:solidFill>
          <a:ln w="12700">
            <a:solidFill>
              <a:srgbClr val="C8FF3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32320" y="363016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戶外：鏡像翻轉，跟著畫面練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949440" y="4416552"/>
            <a:ext cx="91440" cy="91440"/>
          </a:xfrm>
          <a:prstGeom prst="ellipse">
            <a:avLst/>
          </a:prstGeom>
          <a:solidFill>
            <a:srgbClr val="C8FF35"/>
          </a:solidFill>
          <a:ln w="12700">
            <a:solidFill>
              <a:srgbClr val="C8FF3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0" y="428853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居家：錄影比對，確認動作細節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1201400" y="64922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 / COMPETITION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8580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競品與現有工具痛點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通用影音工具能播放，卻沒有為「練舞」設計。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2011680"/>
            <a:ext cx="10744200" cy="822960"/>
          </a:xfrm>
          <a:prstGeom prst="roundRect">
            <a:avLst>
              <a:gd name="adj" fmla="val 17778"/>
            </a:avLst>
          </a:prstGeom>
          <a:solidFill>
            <a:srgbClr val="171717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7627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YouTube／手機相簿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0" y="217627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8BE9F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播放方便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806440" y="2176272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缺少 AB 點、鏡像與同屏對照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85800" y="3127248"/>
            <a:ext cx="10744200" cy="822960"/>
          </a:xfrm>
          <a:prstGeom prst="roundRect">
            <a:avLst>
              <a:gd name="adj" fmla="val 17778"/>
            </a:avLst>
          </a:prstGeom>
          <a:solidFill>
            <a:srgbClr val="171717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29184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舞蹈 App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0" y="32918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8BE9F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功能完整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806440" y="329184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封閉內容、廣告多、學習成本高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4242816"/>
            <a:ext cx="10744200" cy="822960"/>
          </a:xfrm>
          <a:prstGeom prst="roundRect">
            <a:avLst>
              <a:gd name="adj" fmla="val 17778"/>
            </a:avLst>
          </a:prstGeom>
          <a:solidFill>
            <a:srgbClr val="273414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40740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 GROOVE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57600" y="440740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8BE9F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自由匯入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806440" y="4407408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用最少步驟完成拆解與驗收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201400" y="64922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 / SOLUTION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8580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 GROOVE 核心解方亮相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把練舞流程濃縮成「匯入 → 拆解 → 練習 → 驗收」。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2331720"/>
            <a:ext cx="1965960" cy="658368"/>
          </a:xfrm>
          <a:prstGeom prst="roundRect">
            <a:avLst>
              <a:gd name="adj" fmla="val 16667"/>
            </a:avLst>
          </a:prstGeom>
          <a:solidFill>
            <a:srgbClr val="222222"/>
          </a:solidFill>
          <a:ln w="12700">
            <a:solidFill>
              <a:srgbClr val="C8FF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4231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匯入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 / YouTube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154680" y="2331720"/>
            <a:ext cx="1965960" cy="658368"/>
          </a:xfrm>
          <a:prstGeom prst="roundRect">
            <a:avLst>
              <a:gd name="adj" fmla="val 16667"/>
            </a:avLst>
          </a:prstGeom>
          <a:solidFill>
            <a:srgbClr val="222222"/>
          </a:solidFill>
          <a:ln w="12700">
            <a:solidFill>
              <a:srgbClr val="8BE9F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6120" y="24231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時間軸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秒數／影格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0" y="2331720"/>
            <a:ext cx="1965960" cy="658368"/>
          </a:xfrm>
          <a:prstGeom prst="roundRect">
            <a:avLst>
              <a:gd name="adj" fmla="val 16667"/>
            </a:avLst>
          </a:prstGeom>
          <a:solidFill>
            <a:srgbClr val="222222"/>
          </a:solidFill>
          <a:ln w="12700">
            <a:solidFill>
              <a:srgbClr val="8BE9F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77840" y="24231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控制器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AB／速度／鏡像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818120" y="2331720"/>
            <a:ext cx="1965960" cy="658368"/>
          </a:xfrm>
          <a:prstGeom prst="roundRect">
            <a:avLst>
              <a:gd name="adj" fmla="val 16667"/>
            </a:avLst>
          </a:prstGeom>
          <a:solidFill>
            <a:srgbClr val="222222"/>
          </a:solidFill>
          <a:ln w="12700">
            <a:solidFill>
              <a:srgbClr val="C8FF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09560" y="24231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錄影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原影片＋音訊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0149840" y="2331720"/>
            <a:ext cx="1417320" cy="658368"/>
          </a:xfrm>
          <a:prstGeom prst="roundRect">
            <a:avLst>
              <a:gd name="adj" fmla="val 16667"/>
            </a:avLst>
          </a:prstGeom>
          <a:solidFill>
            <a:srgbClr val="222222"/>
          </a:solidFill>
          <a:ln w="12700">
            <a:solidFill>
              <a:srgbClr val="C8FF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0" y="242316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成果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下載／保存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816352" y="2651760"/>
            <a:ext cx="320040" cy="0"/>
          </a:xfrm>
          <a:prstGeom prst="line">
            <a:avLst/>
          </a:prstGeom>
          <a:noFill/>
          <a:ln w="25400">
            <a:solidFill>
              <a:srgbClr val="C8FF35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5148072" y="2651760"/>
            <a:ext cx="320040" cy="0"/>
          </a:xfrm>
          <a:prstGeom prst="line">
            <a:avLst/>
          </a:prstGeom>
          <a:noFill/>
          <a:ln w="25400">
            <a:solidFill>
              <a:srgbClr val="C8FF3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479792" y="2651760"/>
            <a:ext cx="320040" cy="0"/>
          </a:xfrm>
          <a:prstGeom prst="line">
            <a:avLst/>
          </a:prstGeom>
          <a:noFill/>
          <a:ln w="25400">
            <a:solidFill>
              <a:srgbClr val="C8FF35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811512" y="2651760"/>
            <a:ext cx="320040" cy="0"/>
          </a:xfrm>
          <a:prstGeom prst="line">
            <a:avLst/>
          </a:prstGeom>
          <a:noFill/>
          <a:ln w="25400">
            <a:solidFill>
              <a:srgbClr val="C8FF35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371600" y="3886200"/>
            <a:ext cx="9326880" cy="960120"/>
          </a:xfrm>
          <a:prstGeom prst="roundRect">
            <a:avLst>
              <a:gd name="adj" fmla="val 15238"/>
            </a:avLst>
          </a:prstGeom>
          <a:solidFill>
            <a:srgbClr val="141414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45920" y="41605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核心價值：讓舞者把注意力留在動作，而不是工具操作。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1201400" y="64922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 / FEATURE 01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8580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專案建立與自由訊號源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支援本地影片與 YouTube，讓每一支想練的影片都能成為專案。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1920240"/>
            <a:ext cx="4663440" cy="3474720"/>
          </a:xfrm>
          <a:prstGeom prst="roundRect">
            <a:avLst>
              <a:gd name="adj" fmla="val 4211"/>
            </a:avLst>
          </a:prstGeom>
          <a:solidFill>
            <a:srgbClr val="171717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3317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 新增練舞專案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1005840" y="3191256"/>
            <a:ext cx="91440" cy="91440"/>
          </a:xfrm>
          <a:prstGeom prst="ellipse">
            <a:avLst/>
          </a:prstGeom>
          <a:solidFill>
            <a:srgbClr val="C8FF35"/>
          </a:solidFill>
          <a:ln w="12700">
            <a:solidFill>
              <a:srgbClr val="C8FF3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從手機相簿選擇影片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05840" y="3721608"/>
            <a:ext cx="91440" cy="91440"/>
          </a:xfrm>
          <a:prstGeom prst="ellipse">
            <a:avLst/>
          </a:prstGeom>
          <a:solidFill>
            <a:srgbClr val="C8FF35"/>
          </a:solidFill>
          <a:ln w="12700">
            <a:solidFill>
              <a:srgbClr val="C8FF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35935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貼上 YouTube／Shorts 連結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005840" y="4251960"/>
            <a:ext cx="91440" cy="91440"/>
          </a:xfrm>
          <a:prstGeom prst="ellipse">
            <a:avLst/>
          </a:prstGeom>
          <a:solidFill>
            <a:srgbClr val="C8FF35"/>
          </a:solidFill>
          <a:ln w="12700">
            <a:solidFill>
              <a:srgbClr val="C8FF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0" y="412394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自動擷取第一格作為封面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005840" y="4782312"/>
            <a:ext cx="91440" cy="91440"/>
          </a:xfrm>
          <a:prstGeom prst="ellipse">
            <a:avLst/>
          </a:prstGeom>
          <a:solidFill>
            <a:srgbClr val="C8FF35"/>
          </a:solidFill>
          <a:ln w="12700">
            <a:solidFill>
              <a:srgbClr val="C8FF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465429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訪客模式也能立即開始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89320" y="1920240"/>
            <a:ext cx="5303520" cy="3474720"/>
          </a:xfrm>
          <a:prstGeom prst="roundRect">
            <a:avLst>
              <a:gd name="adj" fmla="val 4211"/>
            </a:avLst>
          </a:prstGeom>
          <a:solidFill>
            <a:srgbClr val="111111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55080" y="22860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每個專案保存自己的狀態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400800" y="306324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8FF35"/>
          </a:solidFill>
          <a:ln w="12700">
            <a:solidFill>
              <a:srgbClr val="C8FF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307238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9090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播放位置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818120" y="306324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8BE9FD"/>
          </a:solidFill>
          <a:ln w="12700">
            <a:solidFill>
              <a:srgbClr val="8BE9F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18120" y="307238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9090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速度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235440" y="306324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8FF35"/>
          </a:solidFill>
          <a:ln w="12700">
            <a:solidFill>
              <a:srgbClr val="C8FF3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35440" y="307238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9090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鏡像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400800" y="370332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8BE9FD"/>
          </a:solidFill>
          <a:ln w="12700">
            <a:solidFill>
              <a:srgbClr val="8BE9F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0" y="371246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9090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 區間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818120" y="370332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8FF35"/>
          </a:solidFill>
          <a:ln w="12700">
            <a:solidFill>
              <a:srgbClr val="C8FF3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18120" y="371246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9090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書籤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235440" y="370332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8BE9FD"/>
          </a:solidFill>
          <a:ln w="12700">
            <a:solidFill>
              <a:srgbClr val="8BE9F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35440" y="371246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9090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錄影紀錄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01400" y="64922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 / FEATURE 02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8580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精準練舞工具箱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把每個「再一次」變成可控制、可保存的練習單位。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1920240"/>
            <a:ext cx="4983480" cy="1143000"/>
          </a:xfrm>
          <a:prstGeom prst="roundRect">
            <a:avLst>
              <a:gd name="adj" fmla="val 12800"/>
            </a:avLst>
          </a:prstGeom>
          <a:solidFill>
            <a:srgbClr val="273414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214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 循環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253288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選取 A／B 點，局部重播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72200" y="1920240"/>
            <a:ext cx="4983480" cy="1143000"/>
          </a:xfrm>
          <a:prstGeom prst="roundRect">
            <a:avLst>
              <a:gd name="adj" fmla="val 12800"/>
            </a:avLst>
          </a:prstGeom>
          <a:solidFill>
            <a:srgbClr val="171717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21214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倍速微調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0" y="253288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0.5x～1.0x，慢速拆動作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3520440"/>
            <a:ext cx="4983480" cy="1143000"/>
          </a:xfrm>
          <a:prstGeom prst="roundRect">
            <a:avLst>
              <a:gd name="adj" fmla="val 12800"/>
            </a:avLst>
          </a:prstGeom>
          <a:solidFill>
            <a:srgbClr val="171717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7216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鏡像翻轉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413308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示範畫面左右翻轉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72200" y="3520440"/>
            <a:ext cx="4983480" cy="1143000"/>
          </a:xfrm>
          <a:prstGeom prst="roundRect">
            <a:avLst>
              <a:gd name="adj" fmla="val 12800"/>
            </a:avLst>
          </a:prstGeom>
          <a:solidFill>
            <a:srgbClr val="171717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0" y="37216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影格時間軸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00800" y="413308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以 24／30／60fps 精準定位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201400" y="64922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 / FEATURE 03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8580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同屏對照與即時合成錄影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桌面版 Chrome 可把原影片與攝影機畫面合成，錄出真正的練習成果。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1874520"/>
            <a:ext cx="5486400" cy="3611880"/>
          </a:xfrm>
          <a:prstGeom prst="roundRect">
            <a:avLst>
              <a:gd name="adj" fmla="val 4051"/>
            </a:avLst>
          </a:prstGeom>
          <a:solidFill>
            <a:srgbClr val="111111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48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8BE9F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示範影片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023360" y="2148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你的鏡頭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2560320"/>
            <a:ext cx="2423160" cy="2240280"/>
          </a:xfrm>
          <a:prstGeom prst="rect">
            <a:avLst/>
          </a:prstGeom>
          <a:solidFill>
            <a:srgbClr val="303030"/>
          </a:solidFill>
          <a:ln w="25400">
            <a:solidFill>
              <a:srgbClr val="8BE9F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20440" y="2560320"/>
            <a:ext cx="2423160" cy="2240280"/>
          </a:xfrm>
          <a:prstGeom prst="rect">
            <a:avLst/>
          </a:prstGeom>
          <a:solidFill>
            <a:srgbClr val="1B2414"/>
          </a:solidFill>
          <a:ln w="25400">
            <a:solidFill>
              <a:srgbClr val="C8FF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34440" y="333756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原影片內容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＋同步音訊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160520" y="3337560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Camera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812280" y="1874520"/>
            <a:ext cx="4526280" cy="3611880"/>
          </a:xfrm>
          <a:prstGeom prst="roundRect">
            <a:avLst>
              <a:gd name="adj" fmla="val 4051"/>
            </a:avLst>
          </a:prstGeom>
          <a:solidFill>
            <a:srgbClr val="171717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78040" y="2551176"/>
            <a:ext cx="91440" cy="91440"/>
          </a:xfrm>
          <a:prstGeom prst="ellipse">
            <a:avLst/>
          </a:prstGeom>
          <a:solidFill>
            <a:srgbClr val="C8FF35"/>
          </a:solidFill>
          <a:ln w="12700">
            <a:solidFill>
              <a:srgbClr val="C8FF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0920" y="24231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錄影按鈕明確可見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178040" y="3209544"/>
            <a:ext cx="91440" cy="91440"/>
          </a:xfrm>
          <a:prstGeom prst="ellipse">
            <a:avLst/>
          </a:prstGeom>
          <a:solidFill>
            <a:srgbClr val="C8FF35"/>
          </a:solidFill>
          <a:ln w="12700">
            <a:solidFill>
              <a:srgbClr val="C8FF3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0920" y="30815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輸出不保留 App 框線與半透明相機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178040" y="3867912"/>
            <a:ext cx="91440" cy="91440"/>
          </a:xfrm>
          <a:prstGeom prst="ellipse">
            <a:avLst/>
          </a:prstGeom>
          <a:solidFill>
            <a:srgbClr val="C8FF35"/>
          </a:solidFill>
          <a:ln w="12700">
            <a:solidFill>
              <a:srgbClr val="C8FF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0920" y="3739896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影片與音訊同步保存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178040" y="4526280"/>
            <a:ext cx="91440" cy="91440"/>
          </a:xfrm>
          <a:prstGeom prst="ellipse">
            <a:avLst/>
          </a:prstGeom>
          <a:solidFill>
            <a:srgbClr val="C8FF35"/>
          </a:solidFill>
          <a:ln w="12700">
            <a:solidFill>
              <a:srgbClr val="C8FF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60920" y="43982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結束後跳出下載操作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1201400" y="64922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 / COMIC 02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8580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漫畫第二幕｜遇見 JUST GROOVE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朋友遞來一個更懂舞者的練習畫面。</a:t>
            </a:r>
            <a:endParaRPr lang="en-US" sz="1300" dirty="0"/>
          </a:p>
        </p:txBody>
      </p:sp>
      <p:pic>
        <p:nvPicPr>
          <p:cNvPr id="5" name="Image 0" descr="/Users/peipei/Documents/antigravity/justgoove_app_2026/assets/just-groove-comic-p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28800"/>
            <a:ext cx="11018520" cy="4069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201400" y="64922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/ COMIC 03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8580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漫畫第三幕｜驗收篇：完美同步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從「我好像會了」到「我真的做到了」。</a:t>
            </a:r>
            <a:endParaRPr lang="en-US" sz="1300" dirty="0"/>
          </a:p>
        </p:txBody>
      </p:sp>
      <p:pic>
        <p:nvPicPr>
          <p:cNvPr id="5" name="Image 0" descr="/Users/peipei/Documents/antigravity/justgoove_app_2026/assets/just-groove-comic-p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28800"/>
            <a:ext cx="11018520" cy="4069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201400" y="64922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 / ARCHITECTURE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8580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技術架構與選型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以 Expo SDK 57 跨平台前端為核心，逐步接上雲端資料層。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828800" y="1783080"/>
            <a:ext cx="8412480" cy="530352"/>
          </a:xfrm>
          <a:prstGeom prst="roundRect">
            <a:avLst>
              <a:gd name="adj" fmla="val 27586"/>
            </a:avLst>
          </a:prstGeom>
          <a:solidFill>
            <a:srgbClr val="171717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103120" y="189280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使用者介面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617720" y="189280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Native Web／Expo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828800" y="2569464"/>
            <a:ext cx="8412480" cy="530352"/>
          </a:xfrm>
          <a:prstGeom prst="roundRect">
            <a:avLst>
              <a:gd name="adj" fmla="val 27586"/>
            </a:avLst>
          </a:prstGeom>
          <a:solidFill>
            <a:srgbClr val="171717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03120" y="267919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媒體控制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17720" y="267919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expo-video／YouTube IFrame API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828800" y="3355848"/>
            <a:ext cx="8412480" cy="530352"/>
          </a:xfrm>
          <a:prstGeom prst="roundRect">
            <a:avLst>
              <a:gd name="adj" fmla="val 27586"/>
            </a:avLst>
          </a:prstGeom>
          <a:solidFill>
            <a:srgbClr val="171717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03120" y="346557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錄影串流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17720" y="346557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MediaRecorder／captureStream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828800" y="4142232"/>
            <a:ext cx="8412480" cy="530352"/>
          </a:xfrm>
          <a:prstGeom prst="roundRect">
            <a:avLst>
              <a:gd name="adj" fmla="val 27586"/>
            </a:avLst>
          </a:prstGeom>
          <a:solidFill>
            <a:srgbClr val="273414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03120" y="425196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資料與身份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17720" y="42519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Supabase Auth／Postgres／Storage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828800" y="4928616"/>
            <a:ext cx="8412480" cy="530352"/>
          </a:xfrm>
          <a:prstGeom prst="roundRect">
            <a:avLst>
              <a:gd name="adj" fmla="val 27586"/>
            </a:avLst>
          </a:prstGeom>
          <a:solidFill>
            <a:srgbClr val="171717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03120" y="5038344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部署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617720" y="503834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Vercel Preview／Production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201400" y="64922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/ UX ITERATION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8580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UI／UX 設計歷程與迭代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深色、低干擾、拇指可操作，是練習模式的三個設計原則。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2057400"/>
            <a:ext cx="2423160" cy="2423160"/>
          </a:xfrm>
          <a:prstGeom prst="roundRect">
            <a:avLst>
              <a:gd name="adj" fmla="val 6038"/>
            </a:avLst>
          </a:prstGeom>
          <a:solidFill>
            <a:srgbClr val="171717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28600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Wireframe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383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先確認資訊層級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74720" y="2057400"/>
            <a:ext cx="2423160" cy="2423160"/>
          </a:xfrm>
          <a:prstGeom prst="roundRect">
            <a:avLst>
              <a:gd name="adj" fmla="val 6038"/>
            </a:avLst>
          </a:prstGeom>
          <a:solidFill>
            <a:srgbClr val="171717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0" y="228600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657600" y="2834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Prototype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657600" y="3383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測試工具位置與手勢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63640" y="2057400"/>
            <a:ext cx="2423160" cy="2423160"/>
          </a:xfrm>
          <a:prstGeom prst="roundRect">
            <a:avLst>
              <a:gd name="adj" fmla="val 6038"/>
            </a:avLst>
          </a:prstGeom>
          <a:solidFill>
            <a:srgbClr val="273414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228600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46520" y="2834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Dark UI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446520" y="3383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降低長時間觀看疲勞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052560" y="2057400"/>
            <a:ext cx="2423160" cy="2423160"/>
          </a:xfrm>
          <a:prstGeom prst="roundRect">
            <a:avLst>
              <a:gd name="adj" fmla="val 6038"/>
            </a:avLst>
          </a:prstGeom>
          <a:solidFill>
            <a:srgbClr val="171717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35440" y="228600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235440" y="28346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Focused Mode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235440" y="3383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把注意力留給動作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201400" y="64922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 / CHALLENGE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8580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開發挑戰與技術突破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瀏覽器媒體能力有邊界，但也能用正確的分層把體驗做好。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8288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YouTube IFrame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697480" y="1993392"/>
            <a:ext cx="411480" cy="0"/>
          </a:xfrm>
          <a:prstGeom prst="line">
            <a:avLst/>
          </a:prstGeom>
          <a:noFill/>
          <a:ln w="19050">
            <a:solidFill>
              <a:srgbClr val="C8FF35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337560" y="182880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自訂時間軸與播放速度同步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697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影格定位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697480" y="2862072"/>
            <a:ext cx="411480" cy="0"/>
          </a:xfrm>
          <a:prstGeom prst="line">
            <a:avLst/>
          </a:prstGeom>
          <a:noFill/>
          <a:ln w="19050">
            <a:solidFill>
              <a:srgbClr val="C8FF35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3337560" y="269748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以影片 metadata 建立 24／30／60fps 定位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77240" y="3566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合成錄影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697480" y="3730752"/>
            <a:ext cx="411480" cy="0"/>
          </a:xfrm>
          <a:prstGeom prst="line">
            <a:avLst/>
          </a:prstGeom>
          <a:noFill/>
          <a:ln w="19050">
            <a:solidFill>
              <a:srgbClr val="C8FF35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3337560" y="356616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以原影片 captureStream 保留原聲，不錄入 App 框線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77240" y="44348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跨平台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697480" y="4599432"/>
            <a:ext cx="411480" cy="0"/>
          </a:xfrm>
          <a:prstGeom prst="line">
            <a:avLst/>
          </a:prstGeom>
          <a:noFill/>
          <a:ln w="19050">
            <a:solidFill>
              <a:srgbClr val="C8FF35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3337560" y="4434840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桌面 Chrome 啟用合成；手機保留本機錄影流程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01400" y="64922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 / DELIVERY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8580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專案管理與版本演進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每一輪都以可操作、可驗證、可部署為完成標準。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2423160" cy="1965960"/>
          </a:xfrm>
          <a:prstGeom prst="roundRect">
            <a:avLst>
              <a:gd name="adj" fmla="val 7442"/>
            </a:avLst>
          </a:prstGeom>
          <a:solidFill>
            <a:srgbClr val="171717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Sprint 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97180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播放／匯入／專案狀態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520440" y="2103120"/>
            <a:ext cx="2423160" cy="1965960"/>
          </a:xfrm>
          <a:prstGeom prst="roundRect">
            <a:avLst>
              <a:gd name="adj" fmla="val 7442"/>
            </a:avLst>
          </a:prstGeom>
          <a:solidFill>
            <a:srgbClr val="171717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03320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Sprint 02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703320" y="297180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AB、鏡像、速度、影格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309360" y="2103120"/>
            <a:ext cx="2423160" cy="1965960"/>
          </a:xfrm>
          <a:prstGeom prst="roundRect">
            <a:avLst>
              <a:gd name="adj" fmla="val 7442"/>
            </a:avLst>
          </a:prstGeom>
          <a:solidFill>
            <a:srgbClr val="171717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Sprint 03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92240" y="297180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錄影、音訊、下載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9098280" y="2103120"/>
            <a:ext cx="2423160" cy="1965960"/>
          </a:xfrm>
          <a:prstGeom prst="roundRect">
            <a:avLst>
              <a:gd name="adj" fmla="val 7442"/>
            </a:avLst>
          </a:prstGeom>
          <a:solidFill>
            <a:srgbClr val="273414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81160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Sprint 04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281160" y="297180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Auth、資料隔離、UX 導覽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103120" y="4754880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 分支：feature/complete-just-groove-project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201400" y="64922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 / DEMO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8580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現場 Demo／成果展示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從建立專案到錄影下載，完整走一次練舞流程。</a:t>
            </a:r>
            <a:endParaRPr lang="en-US" sz="1300" dirty="0"/>
          </a:p>
        </p:txBody>
      </p:sp>
      <p:pic>
        <p:nvPicPr>
          <p:cNvPr id="5" name="Image 0" descr="/tmp/codex-remote-attachments/01a07c16-3da9-73e1-97b4-be8269d0a05f/B944DC11-1A93-4955-B267-AB30CBC9D54C/1-照片-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28800"/>
            <a:ext cx="2971800" cy="4206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251960" y="1828800"/>
            <a:ext cx="6995160" cy="4206240"/>
          </a:xfrm>
          <a:prstGeom prst="roundRect">
            <a:avLst>
              <a:gd name="adj" fmla="val 3478"/>
            </a:avLst>
          </a:prstGeom>
          <a:solidFill>
            <a:srgbClr val="171717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617720" y="2148840"/>
            <a:ext cx="411480" cy="292608"/>
          </a:xfrm>
          <a:prstGeom prst="roundRect">
            <a:avLst>
              <a:gd name="adj" fmla="val 50000"/>
            </a:avLst>
          </a:prstGeom>
          <a:solidFill>
            <a:srgbClr val="8BE9FD"/>
          </a:solidFill>
          <a:ln w="12700">
            <a:solidFill>
              <a:srgbClr val="8BE9F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617720" y="2157984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9090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257800" y="21488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新增專案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040880" y="21488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匯入本地影片或 YouTube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617720" y="2953512"/>
            <a:ext cx="411480" cy="292608"/>
          </a:xfrm>
          <a:prstGeom prst="roundRect">
            <a:avLst>
              <a:gd name="adj" fmla="val 50000"/>
            </a:avLst>
          </a:prstGeom>
          <a:solidFill>
            <a:srgbClr val="8BE9FD"/>
          </a:solidFill>
          <a:ln w="12700">
            <a:solidFill>
              <a:srgbClr val="8BE9F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617720" y="2962656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9090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257800" y="295351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設定區間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7040880" y="295351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拖曳時間軸選取 AB 點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17720" y="3758184"/>
            <a:ext cx="411480" cy="292608"/>
          </a:xfrm>
          <a:prstGeom prst="roundRect">
            <a:avLst>
              <a:gd name="adj" fmla="val 50000"/>
            </a:avLst>
          </a:prstGeom>
          <a:solidFill>
            <a:srgbClr val="8BE9FD"/>
          </a:solidFill>
          <a:ln w="12700">
            <a:solidFill>
              <a:srgbClr val="8BE9F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617720" y="3767328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9090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257800" y="375818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開始練習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7040880" y="3758184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慢速／鏡像／循環播放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617720" y="4562856"/>
            <a:ext cx="411480" cy="292608"/>
          </a:xfrm>
          <a:prstGeom prst="roundRect">
            <a:avLst>
              <a:gd name="adj" fmla="val 50000"/>
            </a:avLst>
          </a:prstGeom>
          <a:solidFill>
            <a:srgbClr val="C8FF35"/>
          </a:solidFill>
          <a:ln w="12700">
            <a:solidFill>
              <a:srgbClr val="C8FF3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617720" y="4572000"/>
            <a:ext cx="411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9090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5257800" y="456285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錄影驗收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7040880" y="4562856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輸出原影片＋同步音訊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4480560" y="534924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Demo｜https://dist-inq6m0xbg-peipei1.vercel.app/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1201400" y="64922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4747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 / ROADMAP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30352" y="68580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使用者回饋與未來發展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先讓基本練習流程變順，再把智慧能力加進來。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14400" y="1874520"/>
            <a:ext cx="10241280" cy="530352"/>
          </a:xfrm>
          <a:prstGeom prst="roundRect">
            <a:avLst>
              <a:gd name="adj" fmla="val 27586"/>
            </a:avLst>
          </a:prstGeom>
          <a:solidFill>
            <a:srgbClr val="273414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4440" y="198424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現在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743200" y="1984248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穩定匯入、拆解、鏡像、錄影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14400" y="2679192"/>
            <a:ext cx="10241280" cy="530352"/>
          </a:xfrm>
          <a:prstGeom prst="roundRect">
            <a:avLst>
              <a:gd name="adj" fmla="val 27586"/>
            </a:avLst>
          </a:prstGeom>
          <a:solidFill>
            <a:srgbClr val="171717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34440" y="27889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下一步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0" y="278892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骨架追蹤與動作差異提示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14400" y="3483864"/>
            <a:ext cx="10241280" cy="530352"/>
          </a:xfrm>
          <a:prstGeom prst="roundRect">
            <a:avLst>
              <a:gd name="adj" fmla="val 27586"/>
            </a:avLst>
          </a:prstGeom>
          <a:solidFill>
            <a:srgbClr val="171717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4440" y="359359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共創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743200" y="3593592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多人共編練習段落與書籤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914400" y="4288536"/>
            <a:ext cx="10241280" cy="530352"/>
          </a:xfrm>
          <a:prstGeom prst="roundRect">
            <a:avLst>
              <a:gd name="adj" fmla="val 27586"/>
            </a:avLst>
          </a:prstGeom>
          <a:solidFill>
            <a:srgbClr val="171717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34440" y="439826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行動版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743200" y="4398264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手機原生錄影、相簿匯出、離線練習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1201400" y="64922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9090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0058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200" b="1" spc="300" kern="0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MOVING.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5200" b="1" spc="500" kern="0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JUST GROOVE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300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選一段，開始練。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2743200" y="3886200"/>
            <a:ext cx="6720840" cy="1051560"/>
          </a:xfrm>
          <a:prstGeom prst="roundRect">
            <a:avLst>
              <a:gd name="adj" fmla="val 13913"/>
            </a:avLst>
          </a:prstGeom>
          <a:solidFill>
            <a:srgbClr val="141414"/>
          </a:solidFill>
          <a:ln w="12700">
            <a:solidFill>
              <a:srgbClr val="22222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971800" y="41605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Q&amp;A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434840" y="422452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4F4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Demo｜https://dist-inq6m0xbg-peipei1.vercel.app/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57150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A0A09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賴沛儒｜黃老師 Roger 導師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201400" y="6492240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C8FF3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JUST GROOVE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JUST GROOVE｜選一段，開始練</dc:title>
  <dc:subject>JUST GROOVE 專題簡報</dc:subject>
  <dc:creator>賴沛儒</dc:creator>
  <cp:lastModifiedBy>賴沛儒</cp:lastModifiedBy>
  <cp:revision>1</cp:revision>
  <dcterms:created xsi:type="dcterms:W3CDTF">2026-09-09T06:57:41Z</dcterms:created>
  <dcterms:modified xsi:type="dcterms:W3CDTF">2026-09-09T06:57:41Z</dcterms:modified>
</cp:coreProperties>
</file>